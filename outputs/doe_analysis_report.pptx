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E7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DOE Full Model Analysis (820 Parameters)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4747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>
                <a:solidFill>
                  <a:srgbClr val="C8C8C8"/>
                </a:solidFill>
              </a:defRPr>
            </a:pPr>
            <a:r>
              <a:t>Design of Experiments Analysis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Analysis Chart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Analysis Chart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Analysis Chart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Analysis Chart 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Analysis Chart 5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Analysis Chart 6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Analysis Chart 7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Analysis Chart 8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Analysis Chart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Analysis Chart 10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Analysis Chart 11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Analysis Chart 12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Analysis Chart 13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Analysis Chart 14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Analysis Chart 15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Analysis Chart 16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Analysis Chart 17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Analysis Chart 18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Analysis Chart 19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Analysis Chart 20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180114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Results Table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82296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1371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Fan Speed Range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Average Predicted Temperature (Â°C)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1371600">
                <a:tc>
                  <a:txBody>
                    <a:bodyPr/>
                    <a:lstStyle/>
                    <a:p>
                      <a:r>
                        <a:rPr sz="1000"/>
                        <a:t>Low Speed (L)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65.3966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1371600">
                <a:tc>
                  <a:txBody>
                    <a:bodyPr/>
                    <a:lstStyle/>
                    <a:p>
                      <a:r>
                        <a:rPr sz="1000"/>
                        <a:t>High Speed (H)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65.0873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Results Table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82296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  <a:gridCol w="1371600"/>
                <a:gridCol w="1371600"/>
              </a:tblGrid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Unnamed: 0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df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sum_sq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mean_sq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F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PR(&gt;F)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/>
                        <a:t>Transceiver_Manufacturer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3416.87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379.652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217.728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/>
                        <a:t>Rack_Unit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420.47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10.5118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6.02843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5.81e-30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/>
                        <a:t>Fan_Speed_Range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1.65064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1.65064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0.94663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0.330611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/>
                        <a:t>Transceiver_Manufacturer*Rack_Unit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360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4773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13.2583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7.60358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1.51e-294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/>
                        <a:t>Transceiver_Manufacturer*Fan_Speed_Range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49.5824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5.50916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3.15947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8.19e-04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/>
                        <a:t>Rack_Unit*Fan_Speed_Range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81.5171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2.03793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1.16874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0.215706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/>
                        <a:t>Transceiver_Manufacturer*Rack_Unit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360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744.722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2.06867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1.18637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0.0101534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/>
                        <a:t>Residual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7382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12872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1.7437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nan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Results Table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82296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28700"/>
                <a:gridCol w="1028700"/>
                <a:gridCol w="1028700"/>
                <a:gridCol w="1028700"/>
                <a:gridCol w="1028700"/>
                <a:gridCol w="1028700"/>
                <a:gridCol w="1028700"/>
                <a:gridCol w="1028700"/>
              </a:tblGrid>
              <a:tr h="3740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Unnamed: 0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Coefficient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Std Error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t-value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p-value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Lower CI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Upper CI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Significance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74072">
                <a:tc>
                  <a:txBody>
                    <a:bodyPr/>
                    <a:lstStyle/>
                    <a:p>
                      <a:r>
                        <a:rPr sz="1000"/>
                        <a:t>Intercept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65.0873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0.0800917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812.66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64.9303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65.2443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Significant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74072">
                <a:tc>
                  <a:txBody>
                    <a:bodyPr/>
                    <a:lstStyle/>
                    <a:p>
                      <a:r>
                        <a:rPr sz="1000"/>
                        <a:t>Transceiver_Manufacturer*Rack_Unit[NON-JNPR,5]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65.1494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1.41431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46.0644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62.3769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67.9218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Significant</a:t>
                      </a:r>
                    </a:p>
                  </a:txBody>
                  <a:tcPr/>
                </a:tc>
              </a:tr>
              <a:tr h="374072">
                <a:tc>
                  <a:txBody>
                    <a:bodyPr/>
                    <a:lstStyle/>
                    <a:p>
                      <a:r>
                        <a:rPr sz="1000"/>
                        <a:t>Transceiver_Manufacturer[Finisar]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-1.33263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0.117195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-11.3711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-1.56237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-1.1029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Significant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74072">
                <a:tc>
                  <a:txBody>
                    <a:bodyPr/>
                    <a:lstStyle/>
                    <a:p>
                      <a:r>
                        <a:rPr sz="1000"/>
                        <a:t>Transceiver_Manufacturer[Accelight]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-1.32759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0.133406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-9.95153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-1.5891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-1.06608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Significant</a:t>
                      </a:r>
                    </a:p>
                  </a:txBody>
                  <a:tcPr/>
                </a:tc>
              </a:tr>
              <a:tr h="374072">
                <a:tc>
                  <a:txBody>
                    <a:bodyPr/>
                    <a:lstStyle/>
                    <a:p>
                      <a:r>
                        <a:rPr sz="1000"/>
                        <a:t>Transceiver_Manufacturer[NON-JNPR]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-2.83028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0.473603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-5.97606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-3.75868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-1.90188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Significant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74072">
                <a:tc>
                  <a:txBody>
                    <a:bodyPr/>
                    <a:lstStyle/>
                    <a:p>
                      <a:r>
                        <a:rPr sz="1000"/>
                        <a:t>Rack_Unit[6]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-1.24505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0.26672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-4.66801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3.00e-06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-1.7679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-0.722203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Significant</a:t>
                      </a:r>
                    </a:p>
                  </a:txBody>
                  <a:tcPr/>
                </a:tc>
              </a:tr>
              <a:tr h="374072">
                <a:tc>
                  <a:txBody>
                    <a:bodyPr/>
                    <a:lstStyle/>
                    <a:p>
                      <a:r>
                        <a:rPr sz="1000"/>
                        <a:t>Transceiver_Manufacturer[O-NET]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-2.49321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0.544998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-4.57471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5.00e-06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-3.56156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-1.42486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Significant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74072">
                <a:tc>
                  <a:txBody>
                    <a:bodyPr/>
                    <a:lstStyle/>
                    <a:p>
                      <a:r>
                        <a:rPr sz="1000"/>
                        <a:t>Transceiver_Manufacturer[Hisense]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-1.72336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0.406196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-4.24268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2.20e-05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-2.51962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-0.927099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Significant</a:t>
                      </a:r>
                    </a:p>
                  </a:txBody>
                  <a:tcPr/>
                </a:tc>
              </a:tr>
              <a:tr h="374072">
                <a:tc>
                  <a:txBody>
                    <a:bodyPr/>
                    <a:lstStyle/>
                    <a:p>
                      <a:r>
                        <a:rPr sz="1000"/>
                        <a:t>Rack_Unit[7]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-0.803411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0.237452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-3.38346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7.20e-04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-1.26889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-0.337936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Significant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74080">
                <a:tc>
                  <a:txBody>
                    <a:bodyPr/>
                    <a:lstStyle/>
                    <a:p>
                      <a:r>
                        <a:rPr sz="1000"/>
                        <a:t>Rack_Unit[23]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-2.21613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0.665311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-3.33096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8.70e-04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-3.52033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-0.911928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Significant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Summary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05840"/>
            <a:ext cx="8229600" cy="0"/>
          </a:xfrm>
          <a:prstGeom prst="line">
            <a:avLst/>
          </a:prstGeom>
          <a:ln w="2540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1280160"/>
            <a:ext cx="78638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br/>
            <a:pPr>
              <a:defRPr sz="1600"/>
            </a:pPr>
            <a:r>
              <a:t>DOE Analysis Summary</a:t>
            </a:r>
            <a:br/>
            <a:br/>
            <a:r>
              <a:t>• Full Factorial Design with multiple factors</a:t>
            </a:r>
            <a:br/>
            <a:r>
              <a:t>• Statistical regression model fitted</a:t>
            </a:r>
            <a:br/>
            <a:r>
              <a:t>• Comprehensive parameter estimates</a:t>
            </a:r>
            <a:br/>
            <a:r>
              <a:t>• Model diagnostics and fit assessment</a:t>
            </a:r>
            <a:br/>
            <a:r>
              <a:t>• P-values for significance testing</a:t>
            </a:r>
            <a:br/>
            <a:r>
              <a:t>• Leverage plots for influential observations</a:t>
            </a:r>
            <a:br/>
            <a:r>
              <a:t>        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